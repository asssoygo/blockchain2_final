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1371600"/>
            <a:ext cx="3200400" cy="4114800"/>
          </a:xfrm>
          <a:prstGeom prst="rect">
            <a:avLst/>
          </a:prstGeom>
          <a:solidFill>
            <a:srgbClr val="03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DeFi Super-App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38BDF8"/>
                </a:solidFill>
              </a:rPr>
              <a:t>AMM  ·  ERC-4626 Vault  ·  DAO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Deployed on Arbitrum Sepolia (L2)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31920"/>
            <a:ext cx="5943600" cy="274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Asylkhan Kozhanov   ·   Aldiyar Bazarbayev   ·   Alikhan Sekenov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Blockchain Technologies 2  |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0116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14 Contracts
Verified on Arbiscan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2004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146 Tests
91.64%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03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AMM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Custom x·y=k market maker with 0.3% fee &amp; LP tokens — built from scratch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5303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ERC-4626 Vault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Yield vault accepting mUSD, increasing share price via harvest()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5303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DAO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Full OZ Governor stack: propose → vote → queue → execute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09160"/>
            <a:ext cx="5303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UUPS Treasury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Upgradeable V1→V2 with spending caps, owned by Timelock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05840"/>
            <a:ext cx="5303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09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</a:rPr>
              <a:t>Chainlink Oracle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4630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ETH/USD price feed with staleness protection (1-hour window)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240280"/>
            <a:ext cx="5303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331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</a:rPr>
              <a:t>ERC-1155 GameItems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6974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Fungible resources + unique NFTs with on-chain crafting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5303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</a:rPr>
              <a:t>AMMFactory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CREATE + CREATE2 with counterfactual address prediction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709160"/>
            <a:ext cx="53035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</a:rPr>
              <a:t>MathLib (Yul)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1663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sqrtYul — 5.8× faster than pure-Solidity Babylonian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GovernanceToken
ERC20Votes + Permit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00584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100584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097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ProtocolGovernor
OZ Governor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00584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0" y="1005840"/>
            <a:ext cx="45720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097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ProtocolTimelock
2-day delay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0584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05840"/>
            <a:ext cx="45720" cy="7315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097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Treasury Proxy
UUPS V1→V2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286000"/>
            <a:ext cx="4572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AMM
x·y=k, 0.3% fee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228600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26080" y="2286000"/>
            <a:ext cx="4572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AMMFactory
CREATE+CREATE2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228600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0" y="2286000"/>
            <a:ext cx="4572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YieldVault
ERC-4626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28600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286000"/>
            <a:ext cx="45720" cy="7315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377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PriceOracle
Chainlink+staleness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56616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566160"/>
            <a:ext cx="45720" cy="7315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GameItems
ERC-1155+crafting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56616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926080" y="3566160"/>
            <a:ext cx="45720" cy="7315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6324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MathLib
Yul sqrt (5.8×)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356616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0" y="3566160"/>
            <a:ext cx="45720" cy="7315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Box.sol
Governance demo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566160"/>
            <a:ext cx="22860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3566160"/>
            <a:ext cx="45720" cy="7315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36576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MockAggregator
Test oracle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</a:rPr>
              <a:t>● Governance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C55E"/>
                </a:solidFill>
              </a:rPr>
              <a:t>● Core DeFi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ACC15"/>
                </a:solidFill>
              </a:rPr>
              <a:t>● Auxiliary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</a:rPr>
              <a:t>All 14 contracts deployed &amp; verified on Arbitrum Sepolia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Custom AMM — Constant Product Market Maker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0" cy="914400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2C55E"/>
                </a:solidFill>
              </a:rPr>
              <a:t>x · y =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✓  Built completely from scratch (not a Uniswap fork)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✓  0.3% swap fee — verified by k-invariant check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✓  LP tokens minted using sqrt(amount0 × amount1)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✓  Reserve packing: uint112 + uint112 + uint32 = 1 storage slot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✓  Slippage protection via amountMin parameters</a:t>
            </a:r>
          </a:p>
          <a:p>
            <a:pPr algn="l">
              <a:spcBef>
                <a:spcPts val="400"/>
              </a:spcBef>
            </a:pPr>
            <a:r>
              <a:rPr sz="1400">
                <a:solidFill>
                  <a:srgbClr val="FFFFFF"/>
                </a:solidFill>
              </a:rPr>
              <a:t>  ✓  ReentrancyGuard + CEI pattern on all functions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05840"/>
            <a:ext cx="57607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Swap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5212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7647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1. User transfers tokenIn to AMM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286000"/>
            <a:ext cx="5212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3591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2. swap(0, amountOut, to) called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880360"/>
            <a:ext cx="5212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9535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3. AMM sends tokenOut optimistically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474720"/>
            <a:ext cx="5212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5478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4. Measure balance increase (amountIn)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069080"/>
            <a:ext cx="5212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1422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5. Verify: (b0·997)·(b1·997) ≥ r0·r1·1,000,000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663440"/>
            <a:ext cx="5212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7365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6. _update(balance0, balance1)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5257800"/>
            <a:ext cx="521208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3309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7. Emit Swap event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ERC-4626 Tokenized Yield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Accepts mUSD as underlying asset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Issues dVS (Vault Share) tokens representing ownership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harvest(amount) — owner pushes yield → share price rises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deposit(), mint(), withdraw(), redeem() — all explicitly implemented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Custom events: DepositWithReceipt, WithdrawWithReceipt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nonReentrant on every state-changing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914400"/>
            <a:ext cx="53035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</a:rPr>
              <a:t>How Share Price Grows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600200"/>
            <a:ext cx="47548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Alice deposits 1,000 mUSD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47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D3EE"/>
                </a:solidFill>
              </a:rPr>
              <a:t>Gets 1,000 shares (1:1)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77440"/>
            <a:ext cx="47548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Bob deposits 1,000 mUSD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24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D3EE"/>
                </a:solidFill>
              </a:rPr>
              <a:t>Gets 1,000 shares (1:1)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154680"/>
            <a:ext cx="47548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Owner calls harvest(500)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02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D3EE"/>
                </a:solidFill>
              </a:rPr>
              <a:t>Vault now has 2,500 mUSD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47548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Alice redeems 1,000 shares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793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D3EE"/>
                </a:solidFill>
              </a:rPr>
              <a:t>Gets 1,250 mUSD (+25% yield)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709160"/>
            <a:ext cx="475488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Bob redeems 1,000 shares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056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2D3EE"/>
                </a:solidFill>
              </a:rPr>
              <a:t>Gets 1,250 mUSD (+25% yield)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UUPS Upgradeable Treasury — V1 →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03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ACC15"/>
                </a:solidFill>
              </a:rPr>
              <a:t>TreasuryV1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Slot 0: totalDeposited (mapping)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Slot 1: totalWithdrawn (mapping)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Slot 2: ethBalance (uint256)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Slot 3: version = "v1.0.0"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Functions: transferETH, transferERC20, depositERC20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011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ACC15"/>
                </a:solidFill>
              </a:rPr>
              <a:t>UPGRADE 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005840"/>
            <a:ext cx="48463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0972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2C55E"/>
                </a:solidFill>
              </a:rPr>
              <a:t>TreasuryV2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4592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Slots 0-3: PRESERVED from V1 ✓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Slot 4: spendingCaps (NEW)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Slot 5: spentInWindow (NEW)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Slot 6: windowStartTime (NEW)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Slot 7: spendingWindowDuration (NEW)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1247120" cy="1828800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CC15"/>
                </a:solidFill>
              </a:rPr>
              <a:t>Why UUPS over Transparent Proxy?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✓  No ProxyAdmin contract needed — cheaper deployment    ✓  Upgrade logic lives in implementation — gas efficient    ✓  _disableInitializers() in constructor prevents direct init attacks    ✓  Storage collision proven impossible — V2 only appends to slots 4+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DAO Governance — Full On-Chain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10312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PROPOSE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Proposer needs
≥1,000 GT (1%)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0058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1005840"/>
            <a:ext cx="210312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VOTE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5544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 block delay
50 blocks period
Quorum: 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005840"/>
            <a:ext cx="2103120" cy="4572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5544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Proposal enters
Timelock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10058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005840"/>
            <a:ext cx="21031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WAIT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15544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2-day mandatory
delay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164592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005840"/>
            <a:ext cx="2103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1005840"/>
            <a:ext cx="210312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1051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EXECUTE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15544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Action fires
on-chain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291840"/>
            <a:ext cx="53035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383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Governor Configuration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404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Voting Delay: 1 block (demo) / 7200 blocks (prod ~1 day)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Voting Period: 50 blocks (demo) / 50400 blocks (prod ~1 week)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Proposal Threshold: 1,000 GT (1% of 1M supply)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Quorum: 4% of total supply must participate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Token: ERC20Votes with snapshot-based voting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291840"/>
            <a:ext cx="5486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383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Attack Protections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40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Flash loan attack → Impossible: snapshot at proposal creation block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Whale attack → 2-day timelock gives community time to react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Proposal spam → 1% threshold filters low-stake actors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Timelock bypass → Separate contract, hardcoded min delay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  Admin backdoor → DEFAULT_ADMIN_ROLE revoked post-deploy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Security — Two Case Studies + Static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0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Case Study #1: Reentrancy (SWC-107)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VULNERABLE: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call{value}()  →  balances[msg.sender]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FIXED (CEI + ReentrancyGuard):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balances[msg.sender] = 0  →  call{value}()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TEST RESULT: Attacker deposited 1 ETH, drained 5 ETH (vulnerable).
Fixed version: attack reverts, vault balance unchanged.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914400"/>
            <a:ext cx="548640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005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F4444"/>
                </a:solidFill>
              </a:rPr>
              <a:t>Case Study #2: Access Control (SWC-105)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VULNERABLE: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function changeOwner(address) external { ... }  // No modifier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488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C55E"/>
                </a:solidFill>
              </a:rPr>
              <a:t>FIXED (Ownable):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23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function setCriticalParameter() external onlyOwner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8892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TEST RESULT: Attacker took over ownership &amp; drained 10 ETH (vulnerable).
Fixed: all 3 calls revert with OwnableUnauthorizedAccount.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1247120" cy="731520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2C55E"/>
                </a:solidFill>
              </a:rPr>
              <a:t>Slither 0.11.5 Static Analysis:   ✅  0 HIGH findings   ✅  0 MEDIUM findings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1124712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Applied in every protocol contract: AMM · YieldVault · Treasury · TokenVesting · Governor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CEI pattern + nonReentrant on all state-changing functions  ·  onlyOwner / TimelockController on all privileged functions  ·  SafeERC20 everywhere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Testing — 146 Tests, 91.64%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</a:rPr>
              <a:t>146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Total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143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8BDF8"/>
                </a:solidFill>
              </a:rPr>
              <a:t>~110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Unit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0584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1430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ACC15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Fuzz Tests
256 runs 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D3EE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Invariant Tests
64×32 depth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65176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788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444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429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Fork Tests
mainnet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651760"/>
            <a:ext cx="356616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788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</a:rPr>
              <a:t>91.64%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429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Line 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</a:rPr>
              <a:t>Key Invariants Proven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k never decreases after any swap (constant-product invariant)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LP totalSupply == sum of all LP holder balances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AMM reserves always match contract's actual token balances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440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Treasury: totalDeposited ≥ totalWithdrawn + currentBalance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Governance: total voting power ≤ token totalSupply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852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ERC-4626 rounding: convertToAssets(convertToShares(x)) ≈ x (±1 wei)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Inline Yul Assembly — 5.8× Gas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035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ACC15"/>
                </a:solidFill>
              </a:rPr>
              <a:t>sqrtYul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2C55E"/>
                </a:solidFill>
              </a:rPr>
              <a:t>5,874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Newton's method · 7 fixed iterations · MSB initial guess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3035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</a:rPr>
              <a:t>sqrtSolidity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F4444"/>
                </a:solidFill>
              </a:rPr>
              <a:t>34,118 gas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Babylonian loop · up to 128 iterations · O(log x)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ACC15"/>
                </a:solidFill>
              </a:rPr>
              <a:t>Savings: 28,244 gas per call  ·  5.8× faster  ·  Used in AMM LP minting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ACC15"/>
                </a:solidFill>
              </a:rPr>
              <a:t>Additional Gas Optimizations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Reserve packing: uint112+uint112+uint32 = 1 slot (saves 2 SLOADs per swap ≈ 4,200 gas)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132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Custom errors over require strings: ~40 gas saved per revert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972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Cached storage reads: local variables for multi-read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813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✓ Immutable variables: set once in constructor, read without SLOAD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Deployment — Arbitrum Sepolia (L2)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Verified Contracts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0058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143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D3EE"/>
                </a:solidFill>
              </a:rPr>
              <a:t>0.000354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ETH Deploy 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0058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143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ACC15"/>
                </a:solidFill>
              </a:rPr>
              <a:t>35×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Cheaper than L1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005840"/>
            <a:ext cx="256032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1430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2C55E"/>
                </a:solidFill>
              </a:rPr>
              <a:t>✅ 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783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GitHub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1124712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3EE"/>
                </a:solidFill>
              </a:rPr>
              <a:t>L1 vs L2 Gas Cost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Operation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Gas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200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Ethereum L1 (0.7 gwei)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Arbitrum Sepolia (0.02 gwei)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200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</a:rPr>
              <a:t>Savings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11880"/>
            <a:ext cx="1106424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39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AMM addLiquidity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63931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87,662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6393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0.0000614 ETH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6393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0.0000018 ETH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639312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35×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59352"/>
            <a:ext cx="1106424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9867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AMM swap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398678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95,000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9867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0.0000665 ETH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39867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0.0000019 ETH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9867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35×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306824"/>
            <a:ext cx="1106424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3342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Vault deposit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33425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135,392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3342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0.0000948 ETH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3342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0.0000027 ETH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4334256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35×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654296"/>
            <a:ext cx="1106424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6817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Governor propose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68172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255,679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6817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0.000179 ETH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6817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0.0000051 ETH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84080" y="4681728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35×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001768"/>
            <a:ext cx="11064240" cy="32918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0292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Deploy all 14 contracts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029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17,719,632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50292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~0.0124 ETH ($27)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0292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0.000354 ETH ($0.77)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0" y="502920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C55E"/>
                </a:solidFill>
              </a:rPr>
              <a:t>35×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github.com/asssoygo/blockchain2_final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Frontend dApp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</a:rPr>
              <a:t>[SCREENSHOT: Frontend UI — add here in PowerPoint]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94A3B8"/>
                </a:solidFill>
              </a:rPr>
              <a:t>📸 Add screenshot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0058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✓  MetaMask connect + Arbitrum Sepolia detection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✓  Read: token balance, voting power, delegate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✓  Vault: approve, deposit, withdraw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✓  GameItems: balances + craft NFTs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✓  Governance: view proposals, vote For/Against/Abstain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✓  AMM Factory: create trading pairs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✓  Transaction log with Arbiscan links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  ✓  Full error handling (rejected, wrong network, etc.)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DevOps — GitHub Actions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4A3B8"/>
                </a:solidFill>
              </a:rPr>
              <a:t>📸 Add GitHub Actions screenshot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005840"/>
            <a:ext cx="39319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C55E"/>
                </a:solidFill>
              </a:rPr>
              <a:t>CI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600200"/>
            <a:ext cx="356616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733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8BDF8"/>
                </a:solidFill>
              </a:rPr>
              <a:t>forge build --via-ir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0756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Compile all contracts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651760"/>
            <a:ext cx="356616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72491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8BDF8"/>
                </a:solidFill>
              </a:rPr>
              <a:t>forge test --via-ir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1272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Run 146 tests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703320"/>
            <a:ext cx="356616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7764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8BDF8"/>
                </a:solidFill>
              </a:rPr>
              <a:t>forge coverage --ir-minimum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1788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91.64% line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754880"/>
            <a:ext cx="3566160" cy="914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82803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38BDF8"/>
                </a:solidFill>
              </a:rPr>
              <a:t>slither src || 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5230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→ 0 High / 0 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7607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</a:rPr>
              <a:t>✓ Triggers on every push and pull request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58368"/>
            <a:ext cx="54864" cy="411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Project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6868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4864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Smart Contracts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051560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14 contracts · UUPS · Factory · Yul · ERC-4626 · AMM · Governor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005840"/>
            <a:ext cx="2377440" cy="621792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09728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20/20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86868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54864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755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1755648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0 High/Medium Slither · CEI · ReentrancyGuard · 2 case studies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709928"/>
            <a:ext cx="2377440" cy="621792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80136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15/15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14016"/>
            <a:ext cx="86868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414016"/>
            <a:ext cx="54864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4597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459736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146 tests · 10 fuzz · 6 invariant · 3 fork · 91.64%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414016"/>
            <a:ext cx="2377440" cy="621792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50545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15/15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18104"/>
            <a:ext cx="86868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118104"/>
            <a:ext cx="54864" cy="62179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1638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+ Subgraph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163824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MetaMask · 3 write txns · proposals · vote · subgraph schema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3118104"/>
            <a:ext cx="2377440" cy="621792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3209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ACC15"/>
                </a:solidFill>
              </a:rPr>
              <a:t>8/10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22192"/>
            <a:ext cx="86868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822192"/>
            <a:ext cx="54864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867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867912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14/14 verified on Arbitrum Sepolia · gas table · idempotent 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3822192"/>
            <a:ext cx="2377440" cy="621792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391363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5/5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526280"/>
            <a:ext cx="86868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526280"/>
            <a:ext cx="54864" cy="6217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4572000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Architecture 6p · Audit 8p · Gas report · README with links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80" y="4526280"/>
            <a:ext cx="2377440" cy="621792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80" y="461772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9/10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230368"/>
            <a:ext cx="8686800" cy="62179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230368"/>
            <a:ext cx="54864" cy="62179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2760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 Discipline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276088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Conventional commits · CI green · team contributions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26880" y="5230368"/>
            <a:ext cx="2377440" cy="621792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0" y="532180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ACC15"/>
                </a:solidFill>
              </a:rPr>
              <a:t>3/5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</a:rPr>
              <a:t>Expected project score: ~57 / 60  ·  Defence Q&amp;A: 40 points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38BDF8"/>
                </a:solidFill>
              </a:rPr>
              <a:t>Questions &amp;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657600"/>
            <a:ext cx="5788152" cy="2743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Asylkhan Kozhanov  ·  Aldiyar Bazarbayev  ·  Alikhan Sekenov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D3EE"/>
                </a:solidFill>
              </a:rPr>
              <a:t>github.com/asssoygo/blockchain2_final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Blockchain Technologies 2  |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